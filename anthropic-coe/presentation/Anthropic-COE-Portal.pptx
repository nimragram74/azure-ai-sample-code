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822960"/>
            <a:ext cx="7315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Anthropic COE</a:t>
            </a:r>
          </a:p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9FB6E8"/>
                </a:solidFill>
                <a:latin typeface="Segoe UI"/>
              </a:rPr>
              <a:t>WIPRO · CENTER OF EXCELLENCE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Building the future of</a:t>
            </a:r>
          </a:p>
          <a:p>
            <a:pPr algn="l">
              <a:spcAft>
                <a:spcPts val="1400"/>
              </a:spcAft>
            </a:pPr>
            <a:r>
              <a:rPr sz="4000" b="1" i="0">
                <a:solidFill>
                  <a:srgbClr val="6FA8FF"/>
                </a:solidFill>
                <a:latin typeface="Segoe UI"/>
              </a:rPr>
              <a:t>enterprise AI with Claude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7D3E8"/>
                </a:solidFill>
                <a:latin typeface="Segoe UI"/>
              </a:rPr>
              <a:t>A single home for everything Anthropic at Wipro — training, certifications, engineering best practices, the latest updates, and proven blueprints to help our customers ship safe, useful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16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38928"/>
            <a:ext cx="210312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6FA8FF"/>
                </a:solidFill>
                <a:latin typeface="Segoe UI"/>
              </a:rPr>
              <a:t>4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7D3E8"/>
                </a:solidFill>
                <a:latin typeface="Segoe UI"/>
              </a:rPr>
              <a:t>Learning tracks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79" y="507492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16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79" y="5138928"/>
            <a:ext cx="210312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6FA8FF"/>
                </a:solidFill>
                <a:latin typeface="Segoe UI"/>
              </a:rPr>
              <a:t>6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7D3E8"/>
                </a:solidFill>
                <a:latin typeface="Segoe UI"/>
              </a:rPr>
              <a:t>Certifications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507492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16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5138928"/>
            <a:ext cx="210312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6FA8FF"/>
                </a:solidFill>
                <a:latin typeface="Segoe UI"/>
              </a:rPr>
              <a:t>40+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7D3E8"/>
                </a:solidFill>
                <a:latin typeface="Segoe UI"/>
              </a:rPr>
              <a:t>Best practices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19" y="507492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16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19" y="5138928"/>
            <a:ext cx="210312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6FA8FF"/>
                </a:solidFill>
                <a:latin typeface="Segoe UI"/>
              </a:rPr>
              <a:t>12+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7D3E8"/>
                </a:solidFill>
                <a:latin typeface="Segoe UI"/>
              </a:rPr>
              <a:t>Accelerators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56DB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C1B33"/>
                </a:solidFill>
                <a:latin typeface="Segoe UI"/>
              </a:rPr>
              <a:t>What we'll 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56DB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78308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What is the Anthropic COE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677"/>
                </a:solidFill>
                <a:latin typeface="Segoe UI"/>
              </a:rPr>
              <a:t>Our mission and what the portal brings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56DB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78308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Capabilities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677"/>
                </a:solidFill>
                <a:latin typeface="Segoe UI"/>
              </a:rPr>
              <a:t>Everything the COE offers under one 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56DB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10896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Training &amp; Certifications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677"/>
                </a:solidFill>
                <a:latin typeface="Segoe UI"/>
              </a:rPr>
              <a:t>Role-based learning paths and stackable credentials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10896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56DB"/>
                </a:solidFill>
                <a:latin typeface="Segoe U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10896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Updates &amp; Best Practices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677"/>
                </a:solidFill>
                <a:latin typeface="Segoe UI"/>
              </a:rPr>
              <a:t>Staying current and building things that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3484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56DB"/>
                </a:solidFill>
                <a:latin typeface="Segoe U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43484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How Wipro helps customers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677"/>
                </a:solidFill>
                <a:latin typeface="Segoe UI"/>
              </a:rPr>
              <a:t>Accelerators and our engagement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43484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56DB"/>
                </a:solidFill>
                <a:latin typeface="Segoe U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43484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Get started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677"/>
                </a:solidFill>
                <a:latin typeface="Segoe UI"/>
              </a:rPr>
              <a:t>How to engage the COE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419088"/>
            <a:ext cx="10543032" cy="1524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Wipro  ·  Anthropic Center of Excellence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C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338328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9FB6E8"/>
                </a:solidFill>
                <a:latin typeface="Segoe UI"/>
              </a:rPr>
              <a:t>What is the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Anthropic COE?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56DB"/>
                </a:solidFill>
                <a:latin typeface="Segoe UI"/>
              </a:rPr>
              <a:t>OUR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280160"/>
            <a:ext cx="676656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C1B33"/>
                </a:solidFill>
                <a:latin typeface="Segoe UI"/>
              </a:rPr>
              <a:t>Wipro's specialised practice for designing, building and scaling enterprise solutions on Claude — responsibly and at speed.</a:t>
            </a:r>
          </a:p>
        </p:txBody>
      </p:sp>
      <p:sp>
        <p:nvSpPr>
          <p:cNvPr id="6" name="Oval 5"/>
          <p:cNvSpPr/>
          <p:nvPr/>
        </p:nvSpPr>
        <p:spPr>
          <a:xfrm>
            <a:off x="4663440" y="2743200"/>
            <a:ext cx="201168" cy="201168"/>
          </a:xfrm>
          <a:prstGeom prst="ellipse">
            <a:avLst/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2697480"/>
            <a:ext cx="6400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241A8"/>
                </a:solidFill>
                <a:latin typeface="Segoe UI"/>
              </a:rPr>
              <a:t>Curated enablement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Role-based learning and certifications that build real, applied skill.</a:t>
            </a:r>
          </a:p>
        </p:txBody>
      </p:sp>
      <p:sp>
        <p:nvSpPr>
          <p:cNvPr id="8" name="Oval 7"/>
          <p:cNvSpPr/>
          <p:nvPr/>
        </p:nvSpPr>
        <p:spPr>
          <a:xfrm>
            <a:off x="4663440" y="3630168"/>
            <a:ext cx="201168" cy="201168"/>
          </a:xfrm>
          <a:prstGeom prst="ellipse">
            <a:avLst/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584448"/>
            <a:ext cx="6400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241A8"/>
                </a:solidFill>
                <a:latin typeface="Segoe UI"/>
              </a:rPr>
              <a:t>Engineering excellence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A living playbook of best practices for prompting, agents, evals and safety.</a:t>
            </a:r>
          </a:p>
        </p:txBody>
      </p:sp>
      <p:sp>
        <p:nvSpPr>
          <p:cNvPr id="10" name="Oval 9"/>
          <p:cNvSpPr/>
          <p:nvPr/>
        </p:nvSpPr>
        <p:spPr>
          <a:xfrm>
            <a:off x="4663440" y="4517136"/>
            <a:ext cx="201168" cy="201168"/>
          </a:xfrm>
          <a:prstGeom prst="ellipse">
            <a:avLst/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4471416"/>
            <a:ext cx="6400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241A8"/>
                </a:solidFill>
                <a:latin typeface="Segoe UI"/>
              </a:rPr>
              <a:t>Customer impact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Reusable accelerators that turn Claude's capabilities into measurable value.</a:t>
            </a:r>
          </a:p>
        </p:txBody>
      </p:sp>
      <p:sp>
        <p:nvSpPr>
          <p:cNvPr id="12" name="Oval 11"/>
          <p:cNvSpPr/>
          <p:nvPr/>
        </p:nvSpPr>
        <p:spPr>
          <a:xfrm>
            <a:off x="4663440" y="5404104"/>
            <a:ext cx="201168" cy="201168"/>
          </a:xfrm>
          <a:prstGeom prst="ellipse">
            <a:avLst/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5358384"/>
            <a:ext cx="6400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241A8"/>
                </a:solidFill>
                <a:latin typeface="Segoe UI"/>
              </a:rPr>
              <a:t>Responsible by design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Governance and guardrails baked into everything we build.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419088"/>
            <a:ext cx="10543032" cy="1524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Wipro  ·  Anthropic Center of Excellence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56DB"/>
                </a:solidFill>
                <a:latin typeface="Segoe UI"/>
              </a:rPr>
              <a:t>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C1B33"/>
                </a:solidFill>
                <a:latin typeface="Segoe UI"/>
              </a:rPr>
              <a:t>One portal. Every capability.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456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975104"/>
            <a:ext cx="29992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Guided Learning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Role-based tracks from first prompt to production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456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975104"/>
            <a:ext cx="29992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Certifications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Validate Claude &amp; agent-building skills with recognised credentials.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456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75104"/>
            <a:ext cx="29992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Best Practices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Battle-tested patterns for prompting, tools, evals, safety and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86200"/>
            <a:ext cx="3456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032504"/>
            <a:ext cx="29992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Live Updates &amp; Feeds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Model releases, research and COE news, aggregated.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886200"/>
            <a:ext cx="3456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38862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4032504"/>
            <a:ext cx="29992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Customer Accelerators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Blueprints that turn Claude into measurable customer value.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886200"/>
            <a:ext cx="3456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38862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4032504"/>
            <a:ext cx="29992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Responsible AI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Governance, safety and evaluation guardrails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419088"/>
            <a:ext cx="10543032" cy="1524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Wipro  ·  Anthropic Center of Excellence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56DB"/>
                </a:solidFill>
                <a:latin typeface="Segoe UI"/>
              </a:rP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C1B33"/>
                </a:solidFill>
                <a:latin typeface="Segoe UI"/>
              </a:rPr>
              <a:t>Learning paths for every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975104"/>
            <a:ext cx="48280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Claude Foundations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1A56DB"/>
                </a:solidFill>
                <a:latin typeface="Segoe UI"/>
              </a:rPr>
              <a:t>FOUNDATIONAL · ~4 HRS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Prompting, API fundamentals and responsible use. Intro to Claude, prompt engineering, model selection.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975104"/>
            <a:ext cx="48280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Building with Claude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0A39A"/>
                </a:solidFill>
                <a:latin typeface="Segoe UI"/>
              </a:rPr>
              <a:t>INTERMEDIATE · ~8 HRS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Hands-on: tool use, RAG, structured outputs, streaming, prompt caching and cost optimisation.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8620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32504"/>
            <a:ext cx="48280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Agents &amp; the Agent SDK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1A56DB"/>
                </a:solidFill>
                <a:latin typeface="Segoe UI"/>
              </a:rPr>
              <a:t>ADVANCED · ~10 HRS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Multi-step agents, Model Context Protocol (MCP), the Claude Agent SDK and Claude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88620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38862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4032504"/>
            <a:ext cx="48280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Enterprise &amp; Responsible AI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0A39A"/>
                </a:solidFill>
                <a:latin typeface="Segoe UI"/>
              </a:rPr>
              <a:t>LEADERSHIP · ~5 HRS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Evals, safety, red-teaming, deployment patterns and the economics of AI adoption.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419088"/>
            <a:ext cx="10543032" cy="1524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Wipro  ·  Anthropic Center of Excellence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56DB"/>
                </a:solidFill>
                <a:latin typeface="Segoe UI"/>
              </a:rPr>
              <a:t>CERTIFICATIONS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C1B33"/>
                </a:solidFill>
                <a:latin typeface="Segoe UI"/>
              </a:rPr>
              <a:t>Certify your Claude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677"/>
                </a:solidFill>
                <a:latin typeface="Segoe UI"/>
              </a:rPr>
              <a:t>Stackable credentials that prove real, applied skill — recognised across the practice.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254203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82296" cy="310896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386584"/>
            <a:ext cx="2084832" cy="2834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Certified Claude Associate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1A56DB"/>
                </a:solidFill>
                <a:latin typeface="Segoe UI"/>
              </a:rPr>
              <a:t>ASSOCIATE · 2 WEEKS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Prompting, API fundamentals, responsible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4709160"/>
            <a:ext cx="502920" cy="411480"/>
          </a:xfrm>
          <a:prstGeom prst="roundRect">
            <a:avLst>
              <a:gd name="adj" fmla="val 30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41A8"/>
                </a:solidFill>
                <a:latin typeface="Segoe UI"/>
              </a:rPr>
              <a:t>L1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240280"/>
            <a:ext cx="254203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2240280"/>
            <a:ext cx="82296" cy="310896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386584"/>
            <a:ext cx="2084832" cy="2834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Certified Claude Developer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0A39A"/>
                </a:solidFill>
                <a:latin typeface="Segoe UI"/>
              </a:rPr>
              <a:t>DEVELOPER · 4 WEEKS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Tool use, RAG, structured outputs, evals.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6472" y="4709160"/>
            <a:ext cx="502920" cy="411480"/>
          </a:xfrm>
          <a:prstGeom prst="roundRect">
            <a:avLst>
              <a:gd name="adj" fmla="val 30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41A8"/>
                </a:solidFill>
                <a:latin typeface="Segoe UI"/>
              </a:rPr>
              <a:t>L2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40280"/>
            <a:ext cx="254203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240280"/>
            <a:ext cx="82296" cy="310896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386584"/>
            <a:ext cx="2084832" cy="2834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Certified Agent Engineer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1A56DB"/>
                </a:solidFill>
                <a:latin typeface="Segoe UI"/>
              </a:rPr>
              <a:t>EXPERT · 6 WEEKS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Multi-step agents, MCP, Claude Agent SDK.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4709160"/>
            <a:ext cx="502920" cy="411480"/>
          </a:xfrm>
          <a:prstGeom prst="roundRect">
            <a:avLst>
              <a:gd name="adj" fmla="val 30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41A8"/>
                </a:solidFill>
                <a:latin typeface="Segoe UI"/>
              </a:rPr>
              <a:t>L3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240280"/>
            <a:ext cx="254203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15400" y="2240280"/>
            <a:ext cx="82296" cy="310896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2386584"/>
            <a:ext cx="2084832" cy="2834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Certified Solution Architect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0A39A"/>
                </a:solidFill>
                <a:latin typeface="Segoe UI"/>
              </a:rPr>
              <a:t>ARCHITECT · 8 WEEKS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Enterprise architecture, security, scale.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71432" y="4709160"/>
            <a:ext cx="502920" cy="411480"/>
          </a:xfrm>
          <a:prstGeom prst="roundRect">
            <a:avLst>
              <a:gd name="adj" fmla="val 30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41A8"/>
                </a:solidFill>
                <a:latin typeface="Segoe UI"/>
              </a:rPr>
              <a:t>L4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419088"/>
            <a:ext cx="10543032" cy="1524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Wipro  ·  Anthropic Center of Excellence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56DB"/>
                </a:solidFill>
                <a:latin typeface="Segoe UI"/>
              </a:rPr>
              <a:t>STAY CURRENT · BUILD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C1B33"/>
                </a:solidFill>
                <a:latin typeface="Segoe UI"/>
              </a:rPr>
              <a:t>Latest updates &amp; 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5120640" cy="457200"/>
          </a:xfrm>
          <a:prstGeom prst="roundRect">
            <a:avLst>
              <a:gd name="adj" fmla="val 25000"/>
            </a:avLst>
          </a:prstGeom>
          <a:solidFill>
            <a:srgbClr val="0C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LATEST UPDATES &amp; FEEDS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14016"/>
            <a:ext cx="82296" cy="64008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77440"/>
            <a:ext cx="484632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0C1B33"/>
                </a:solidFill>
                <a:latin typeface="Segoe UI"/>
              </a:rPr>
              <a:t>Claude Opus 4.8 &amp; the 4.X family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677"/>
                </a:solidFill>
                <a:latin typeface="Segoe UI"/>
              </a:rPr>
              <a:t>Most capable models — default for new builds.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28416"/>
            <a:ext cx="82296" cy="64008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291840"/>
            <a:ext cx="484632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0C1B33"/>
                </a:solidFill>
                <a:latin typeface="Segoe UI"/>
              </a:rPr>
              <a:t>Claude Agent SDK &amp; MCP momentum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677"/>
                </a:solidFill>
                <a:latin typeface="Segoe UI"/>
              </a:rPr>
              <a:t>Building agents is easier than ever.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42816"/>
            <a:ext cx="82296" cy="64008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206240"/>
            <a:ext cx="484632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0C1B33"/>
                </a:solidFill>
                <a:latin typeface="Segoe UI"/>
              </a:rPr>
              <a:t>Interpretability &amp; alignment research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677"/>
                </a:solidFill>
                <a:latin typeface="Segoe UI"/>
              </a:rPr>
              <a:t>Foundational to how we design safe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157216"/>
            <a:ext cx="82296" cy="64008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5120640"/>
            <a:ext cx="484632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0C1B33"/>
                </a:solidFill>
                <a:latin typeface="Segoe UI"/>
              </a:rPr>
              <a:t>Responsible Scaling Policy update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677"/>
                </a:solidFill>
                <a:latin typeface="Segoe UI"/>
              </a:rPr>
              <a:t>How safety scales with capability.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4983480" cy="457200"/>
          </a:xfrm>
          <a:prstGeom prst="roundRect">
            <a:avLst>
              <a:gd name="adj" fmla="val 25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BEST PRACTICES FOR CLAUDE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77440"/>
            <a:ext cx="201168" cy="201168"/>
          </a:xfrm>
          <a:prstGeom prst="ellipse">
            <a:avLst/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359152"/>
            <a:ext cx="457200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41A8"/>
                </a:solidFill>
                <a:latin typeface="Segoe UI"/>
              </a:rPr>
              <a:t>Be clear, direct &amp; contextual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Segoe UI"/>
              </a:rPr>
              <a:t>State goal, audience and format.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3127248"/>
            <a:ext cx="201168" cy="201168"/>
          </a:xfrm>
          <a:prstGeom prst="ellipse">
            <a:avLst/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3108960"/>
            <a:ext cx="457200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41A8"/>
                </a:solidFill>
                <a:latin typeface="Segoe UI"/>
              </a:rPr>
              <a:t>Structure prompts with XML tags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Segoe UI"/>
              </a:rPr>
              <a:t>Reliable parsing of intent.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3877056"/>
            <a:ext cx="201168" cy="201168"/>
          </a:xfrm>
          <a:prstGeom prst="ellipse">
            <a:avLst/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3858768"/>
            <a:ext cx="457200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41A8"/>
                </a:solidFill>
                <a:latin typeface="Segoe UI"/>
              </a:rPr>
              <a:t>Start simple, add agency only when needed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Segoe UI"/>
              </a:rPr>
              <a:t>Workflow before full autonomy.</a:t>
            </a:r>
          </a:p>
        </p:txBody>
      </p:sp>
      <p:sp>
        <p:nvSpPr>
          <p:cNvPr id="20" name="Oval 19"/>
          <p:cNvSpPr/>
          <p:nvPr/>
        </p:nvSpPr>
        <p:spPr>
          <a:xfrm>
            <a:off x="6355080" y="4626864"/>
            <a:ext cx="201168" cy="201168"/>
          </a:xfrm>
          <a:prstGeom prst="ellipse">
            <a:avLst/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4608576"/>
            <a:ext cx="457200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41A8"/>
                </a:solidFill>
                <a:latin typeface="Segoe UI"/>
              </a:rPr>
              <a:t>Define success &amp; automate evals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Segoe UI"/>
              </a:rPr>
              <a:t>Measure quality, don't guess.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5376671"/>
            <a:ext cx="201168" cy="201168"/>
          </a:xfrm>
          <a:prstGeom prst="ellipse">
            <a:avLst/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2" y="5358383"/>
            <a:ext cx="457200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41A8"/>
                </a:solidFill>
                <a:latin typeface="Segoe UI"/>
              </a:rPr>
              <a:t>Cache context, right-size the model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Segoe UI"/>
              </a:rPr>
              <a:t>Cut latency and cost.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419088"/>
            <a:ext cx="10543032" cy="1524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Wipro  ·  Anthropic Center of Excellence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56DB"/>
                </a:solidFill>
                <a:latin typeface="Segoe UI"/>
              </a:rPr>
              <a:t>FOR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C1B33"/>
                </a:solidFill>
                <a:latin typeface="Segoe UI"/>
              </a:rPr>
              <a:t>How Wipro helps customers with Claude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456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975104"/>
            <a:ext cx="29992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AI Value Discovery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Map high-value use cases to Claude's strengths.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310896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241A8"/>
                </a:solidFill>
                <a:latin typeface="Segoe UI"/>
              </a:rPr>
              <a:t>2–3 wks to a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456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975104"/>
            <a:ext cx="29992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Agentic Automation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Multi-step agents that automate knowledge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0872" y="310896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241A8"/>
                </a:solidFill>
                <a:latin typeface="Segoe UI"/>
              </a:rPr>
              <a:t>Agent in 4–6 wks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56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975104"/>
            <a:ext cx="29992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Enterprise Knowledge Assistant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Secure RAG with citations and guardrails.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310896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241A8"/>
                </a:solidFill>
                <a:latin typeface="Segoe UI"/>
              </a:rPr>
              <a:t>Grounded day 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86200"/>
            <a:ext cx="3456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38862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032504"/>
            <a:ext cx="29992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Engineering Acceleration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Claude Code &amp; Agent SDK across the SDLC.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" y="516636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241A8"/>
                </a:solidFill>
                <a:latin typeface="Segoe UI"/>
              </a:rPr>
              <a:t>Up to 40%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886200"/>
            <a:ext cx="3456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4840" y="38862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4032504"/>
            <a:ext cx="29992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Intelligent Customer Experience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Support copilots and smart self-service.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90872" y="516636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241A8"/>
                </a:solidFill>
                <a:latin typeface="Segoe UI"/>
              </a:rPr>
              <a:t>Higher CSAT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886200"/>
            <a:ext cx="3456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F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388620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4032504"/>
            <a:ext cx="2999232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C1B33"/>
                </a:solidFill>
                <a:latin typeface="Segoe UI"/>
              </a:rPr>
              <a:t>Responsible AI &amp; Governance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677"/>
                </a:solidFill>
                <a:latin typeface="Segoe UI"/>
              </a:rPr>
              <a:t>Safety, evals, compliance and monitoring.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516636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D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241A8"/>
                </a:solidFill>
                <a:latin typeface="Segoe UI"/>
              </a:rPr>
              <a:t>Audit-ready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419088"/>
            <a:ext cx="10543032" cy="1524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Wipro  ·  Anthropic Center of Excellence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FB6E8"/>
                </a:solidFill>
                <a:latin typeface="Segoe UI"/>
              </a:rPr>
              <a:t>ENGAGEMENT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From idea to enterprise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2542032" cy="2834640"/>
          </a:xfrm>
          <a:prstGeom prst="roundRect">
            <a:avLst>
              <a:gd name="adj" fmla="val 6000"/>
            </a:avLst>
          </a:prstGeom>
          <a:solidFill>
            <a:srgbClr val="16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993392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Discover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3E8"/>
                </a:solidFill>
                <a:latin typeface="Segoe UI"/>
              </a:rPr>
              <a:t>Identify and prioritise high-value, feasible use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329184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6FA8FF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194560"/>
            <a:ext cx="2542032" cy="2834640"/>
          </a:xfrm>
          <a:prstGeom prst="roundRect">
            <a:avLst>
              <a:gd name="adj" fmla="val 6000"/>
            </a:avLst>
          </a:prstGeom>
          <a:solidFill>
            <a:srgbClr val="16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94760" y="246888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291840"/>
            <a:ext cx="1993392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Prototype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3E8"/>
                </a:solidFill>
                <a:latin typeface="Segoe UI"/>
              </a:rPr>
              <a:t>Build a Claude proof-of-value against real data in weeks.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2" y="329184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6FA8FF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2542032" cy="2834640"/>
          </a:xfrm>
          <a:prstGeom prst="roundRect">
            <a:avLst>
              <a:gd name="adj" fmla="val 6000"/>
            </a:avLst>
          </a:prstGeom>
          <a:solidFill>
            <a:srgbClr val="16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246888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1993392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Industrialise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3E8"/>
                </a:solidFill>
                <a:latin typeface="Segoe UI"/>
              </a:rPr>
              <a:t>Harden with evals, guardrails, security and CI/CD.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29184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6FA8FF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194560"/>
            <a:ext cx="2542032" cy="2834640"/>
          </a:xfrm>
          <a:prstGeom prst="roundRect">
            <a:avLst>
              <a:gd name="adj" fmla="val 6000"/>
            </a:avLst>
          </a:prstGeom>
          <a:solidFill>
            <a:srgbClr val="16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9720" y="246888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291840"/>
            <a:ext cx="1993392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Scale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3E8"/>
                </a:solidFill>
                <a:latin typeface="Segoe UI"/>
              </a:rPr>
              <a:t>Roll out across the enterprise with COE governance.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0543032" cy="4114800"/>
          </a:xfrm>
          <a:prstGeom prst="roundRect">
            <a:avLst>
              <a:gd name="adj" fmla="val 5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43032" cy="146304"/>
          </a:xfrm>
          <a:prstGeom prst="roundRect">
            <a:avLst>
              <a:gd name="adj" fmla="val 50000"/>
            </a:avLst>
          </a:prstGeom>
          <a:solidFill>
            <a:srgbClr val="00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9235440" cy="2926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Ready to explore what Claude can do</a:t>
            </a:r>
          </a:p>
          <a:p>
            <a:pPr algn="ctr">
              <a:spcAft>
                <a:spcPts val="16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for your organisation?</a:t>
            </a:r>
          </a:p>
          <a:p>
            <a:pPr algn="ctr">
              <a:spcAft>
                <a:spcPts val="1400"/>
              </a:spcAft>
            </a:pPr>
            <a:r>
              <a:rPr sz="1600" b="0" i="0">
                <a:solidFill>
                  <a:srgbClr val="FFFFFF"/>
                </a:solidFill>
                <a:latin typeface="Segoe UI"/>
              </a:rPr>
              <a:t>Talk to the Wipro Anthropic Center of Excellence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416052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41A8"/>
                </a:solidFill>
                <a:latin typeface="Segoe UI"/>
              </a:rPr>
              <a:t>anthropic.coe@wipro.com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4303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Segoe UI"/>
              </a:rPr>
              <a:t>© 2026 Wipro Limited.  Anthropic, Claude and related marks are property of Anthropic, PBC.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